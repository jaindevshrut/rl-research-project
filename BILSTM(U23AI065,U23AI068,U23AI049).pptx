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00fc94670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00fc94670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00fc94670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0fc94670_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e00fc94670_2_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e00fc94670_2_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0fc94670_2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00fc94670_2_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00fc94670_2_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0fc94670_2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e00fc94670_2_2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00fc94670_2_2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0fc94670_2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00fc94670_2_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00fc94670_2_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00fc94670_2_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00fc94670_2_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00fc94670_2_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00fc94670_2_1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00fc94670_2_1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00fc94670_2_1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76f21a33b_0_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d76f21a33b_0_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76f21a33b_0_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00fc94670_2_2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00fc94670_2_2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00fc94670_2_2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00fc94670_2_1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e00fc94670_2_1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00fc94670_2_1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76f21a33b_0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d76f21a33b_0_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d76f21a33b_0_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00fc94670_2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e00fc94670_2_3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00fc94670_2_3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00fc94670_2_3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e00fc94670_2_3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00fc94670_2_3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00fc94670_2_3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e00fc94670_2_3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00fc94670_2_3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838F">
              <a:alpha val="21960"/>
            </a:srgbClr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9A825">
              <a:alpha val="14901"/>
            </a:srgbClr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02920" y="1417320"/>
            <a:ext cx="1005840" cy="5029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57200" y="155453"/>
            <a:ext cx="804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Modeling Cognitive-Affective Processes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138" y="809232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7FA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A8C7FA"/>
                </a:solidFill>
                <a:latin typeface="Calibri"/>
                <a:ea typeface="Calibri"/>
                <a:cs typeface="Calibri"/>
                <a:sym typeface="Calibri"/>
              </a:rPr>
              <a:t>with Appraisal and Reinforcement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157276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Extending the Baseline: DQN + 6D Appraisal  |  Distributional RL + Calibrated SVM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02920" y="2286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Presenter: </a:t>
            </a:r>
            <a:r>
              <a:rPr lang="en" sz="1300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Sweta Rana, Dev Shrut Jain, Krish Rathod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02920" y="2606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Supervisor: </a:t>
            </a:r>
            <a:r>
              <a:rPr lang="en" sz="1300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Sudhakar Mishra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" y="29260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C5FE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9EC5FE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r>
              <a:rPr b="0" i="0" lang="en" sz="1200" u="none" cap="none" strike="noStrike">
                <a:solidFill>
                  <a:srgbClr val="9EC5FE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48645" y="3566140"/>
            <a:ext cx="2606100" cy="7773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48645" y="3593572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2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48645" y="3904468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5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EC5FE"/>
                </a:solidFill>
                <a:latin typeface="Calibri"/>
                <a:ea typeface="Calibri"/>
                <a:cs typeface="Calibri"/>
                <a:sym typeface="Calibri"/>
              </a:rPr>
              <a:t>DQN + Distrib. RL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383318" y="3547840"/>
            <a:ext cx="2606100" cy="7773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383318" y="3575272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4 Experiments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383318" y="3886168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5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EC5FE"/>
                </a:solidFill>
                <a:latin typeface="Calibri"/>
                <a:ea typeface="Calibri"/>
                <a:cs typeface="Calibri"/>
                <a:sym typeface="Calibri"/>
              </a:rPr>
              <a:t>7 &amp; 4 emotions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217990" y="3547878"/>
            <a:ext cx="2606100" cy="7773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217990" y="3575310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5 Seeds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217990" y="3886206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5F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EC5FE"/>
                </a:solidFill>
                <a:latin typeface="Calibri"/>
                <a:ea typeface="Calibri"/>
                <a:cs typeface="Calibri"/>
                <a:sym typeface="Calibri"/>
              </a:rPr>
              <a:t>Multi-seed 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— Why This Research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E8F0FE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48640" y="859536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450"/>
              <a:buFont typeface="Calibri"/>
              <a:buNone/>
            </a:pPr>
            <a:r>
              <a:rPr b="0" i="1" lang="en" sz="14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Emotions are not noise </a:t>
            </a:r>
            <a:r>
              <a:rPr i="1" lang="en" sz="1450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" sz="14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 they are structured cognitive responses to environmental events.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7472" y="1874520"/>
            <a:ext cx="265176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47472" y="1874520"/>
            <a:ext cx="265176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20624" y="1892808"/>
            <a:ext cx="25054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Gap in 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38912" y="2304288"/>
            <a:ext cx="24871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RL agents treat reward numerically </a:t>
            </a:r>
            <a:r>
              <a:rPr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no link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to human-interpretable emotional states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182112" y="1874520"/>
            <a:ext cx="265176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3182112" y="1874520"/>
            <a:ext cx="265176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255264" y="1892808"/>
            <a:ext cx="25054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Appraisal Theory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273552" y="2304288"/>
            <a:ext cx="24871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Scherer's CPM: emotions arise from appraisal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checks (Suddenness, Goal Relevance, etc.)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016752" y="1874520"/>
            <a:ext cx="265176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016752" y="1874520"/>
            <a:ext cx="265176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089904" y="1892808"/>
            <a:ext cx="25054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Bridge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108192" y="2304288"/>
            <a:ext cx="24871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Connecting RL reward signals to appraisal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vectors enables emotion-aware AI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65760" y="3657600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02920" y="3657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Real-World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65760" y="4005072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Mental health AI: agents that recognise distress patterns in interaction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55A64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Human-robot interaction: emotionally coherent robots that adapt behaviour to user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55A64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Personalised education systems: tracking learner frustration or confidence in real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Research Question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Cognitive-Affective RL  |  [Your Name]  |  [Your University]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20040" y="822960"/>
            <a:ext cx="41148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11480" y="8229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The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" y="1298448"/>
            <a:ext cx="38404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Scalar reward signals lack uncertainty / affect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Appraisal space in baseline is 4D  under-specified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Single SVM classifier no uncertainty quantification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Tabular Q-learning cannot scale to complex emotion scenarios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50"/>
              <a:buFont typeface="Calibri"/>
              <a:buChar char="•"/>
            </a:pPr>
            <a:r>
              <a:rPr b="0" i="0" lang="en" sz="11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Exp3 (4-emotion free setting) achieves only R² = 0.29 in the baseline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709160" y="822960"/>
            <a:ext cx="41148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4800600" y="822960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46325" y="1206950"/>
            <a:ext cx="38406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Can extending the RL backbone (DQN / Distributional RL) and the appraisal feature space (6D) improve alignment between model-generated and human emotion-appraisal patterns?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800600" y="2724912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937750" y="2340844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Sub-Questions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846325" y="2571746"/>
            <a:ext cx="3840600" cy="13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Does DQN yield richer appraisal vectors than tabular Q-learning?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Do 2 extra appraisal dimensions (entropy + TD-error) help?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Does an MLP ensemble outperform a single SVM?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9A825">
              <a:alpha val="18039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57200" y="4178808"/>
            <a:ext cx="8321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Overarching Goal: Build an RL-to-emotion pipeline that achieves human-level appraisal alignment (R² ≥ 0.8) across all experimental conditions.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Cognitive-Affective RL  |  [Your Name]  |  [Your University]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74320" y="82296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365760" y="83210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Exp1_Free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108960" y="850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7 emotions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84048" y="12618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Condition: Free / unconstrained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84048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Human rates any emotion freely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84048" y="184708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Metrics: R²  ·  RMSE  ·  Top-1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84048" y="21214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Training data: Scherer-style appraisal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709160" y="82296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800600" y="83210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Exp2_Limit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543800" y="8503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7 emotions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818888" y="12618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Condition: Limit / forced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818888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Human selects from fixed 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818888" y="184708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Metrics: R²  ·  RMSE  ·  Top-1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818888" y="21214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Training data: Scherer-style appraisal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74320" y="269748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74320" y="2697480"/>
            <a:ext cx="4160520" cy="347472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365760" y="270662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Exp3_Free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108960" y="272491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4 emotions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84048" y="31363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Condition: Free / unconstrained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84048" y="34107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Reduced emotion space, free rating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84048" y="37216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Metrics: R²  ·  RMSE  ·  Top-1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84048" y="39959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Training data: Scherer-style appraisal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709160" y="269748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4709160" y="2697480"/>
            <a:ext cx="4160520" cy="347472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800600" y="270662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Exp3_Limit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543800" y="272491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4 emotions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818888" y="31363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Condition: Limit / forced choice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818888" y="34107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Reduced emotion space, forced choice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818888" y="37216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Metrics: R²  ·  RMSE  ·  Top-1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818888" y="39959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Training data: Scherer-style appraisal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74320" y="4626864"/>
            <a:ext cx="8595360" cy="201168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365760" y="464515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Evaluation:   R² = 1 − [Σ(yᵢ − ŷᵢ)²  /  Σ(yᵢ − ȳ)²]   |   RMSE = √(1/n · Σ(yᵢ − ŷᵢ)²)   |   Human data used as ground truth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8" title="image.png_20260420124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0" y="658368"/>
            <a:ext cx="9144000" cy="411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320040" y="0"/>
            <a:ext cx="850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 &amp; Related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8046720" y="4983480"/>
            <a:ext cx="914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92608" y="822960"/>
            <a:ext cx="27432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292608" y="822960"/>
            <a:ext cx="2743200" cy="4023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384048" y="82296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Scherer's CPM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84048" y="1298448"/>
            <a:ext cx="25785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Emotions = sequential appraisal checks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4 key dimensions: Suddenness, Goal Relevance, Conduciveness,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Provides structured ground-truth appraisal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Used here to generate classifier training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172968" y="822960"/>
            <a:ext cx="27432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172968" y="822960"/>
            <a:ext cx="2743200" cy="4023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3264408" y="82296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Tabular Q-Learning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264408" y="1298448"/>
            <a:ext cx="2578500" cy="338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Bellman update:</a:t>
            </a:r>
            <a:endParaRPr b="0" sz="1100">
              <a:solidFill>
                <a:srgbClr val="455A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ctr">
              <a:spcBef>
                <a:spcPts val="4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●"/>
            </a:pPr>
            <a:r>
              <a:rPr b="1" lang="en" sz="1000">
                <a:solidFill>
                  <a:srgbClr val="0D2B55"/>
                </a:solidFill>
                <a:latin typeface="Consolas"/>
                <a:ea typeface="Consolas"/>
                <a:cs typeface="Consolas"/>
                <a:sym typeface="Consolas"/>
              </a:rPr>
              <a:t>Q(s,a) ← Q(s,a) + α[r + γ maxₐ′ Q(s′,a′) − Q(s,a)]</a:t>
            </a:r>
            <a:endParaRPr b="1" sz="1000">
              <a:solidFill>
                <a:srgbClr val="0D2B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●"/>
            </a:pP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Baseline paper: 4D appraisal → linear SVM</a:t>
            </a:r>
            <a:endParaRPr b="0" sz="1100">
              <a:solidFill>
                <a:srgbClr val="455A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Peak </a:t>
            </a:r>
            <a:r>
              <a:rPr b="0" i="1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= 0.92 (Exp2 Limit)</a:t>
            </a:r>
            <a:endParaRPr b="0" sz="1100">
              <a:solidFill>
                <a:srgbClr val="455A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●"/>
            </a:pP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Low </a:t>
            </a:r>
            <a:r>
              <a:rPr b="0" i="1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= 0.29 (Exp3)</a:t>
            </a:r>
            <a:endParaRPr b="0" sz="1100">
              <a:solidFill>
                <a:srgbClr val="455A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●"/>
            </a:pPr>
            <a:r>
              <a:rPr b="0" lang="en" sz="1100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Weakness: scalar reward, no uncertainty modelling</a:t>
            </a:r>
            <a:endParaRPr b="0" sz="1100">
              <a:solidFill>
                <a:srgbClr val="455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53328" y="822960"/>
            <a:ext cx="27432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6053328" y="822960"/>
            <a:ext cx="2743200" cy="4023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6144768" y="82296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&amp; Opportunity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144768" y="1298448"/>
            <a:ext cx="25785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Richer RL (DQN, Distributional) could encode more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Additional appraisal dimensions (entropy, TD-error) are under-explored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Ensemble classifiers may capture uncertainty better than a single SVM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Multi-seed robustness testing is largely absent in prior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3">
            <a:alphaModFix/>
          </a:blip>
          <a:srcRect b="3112" l="0" r="0" t="9719"/>
          <a:stretch/>
        </p:blipFill>
        <p:spPr>
          <a:xfrm>
            <a:off x="-18350" y="563100"/>
            <a:ext cx="9162351" cy="44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Overview — End-to-End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74320" y="960120"/>
            <a:ext cx="1554480" cy="1005840"/>
          </a:xfrm>
          <a:prstGeom prst="roundRect">
            <a:avLst>
              <a:gd fmla="val 7273" name="adj"/>
            </a:avLst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274320" y="10058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74320" y="15544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7 emotion scenarios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1847088" y="1435608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2011680" y="960120"/>
            <a:ext cx="1554480" cy="1005840"/>
          </a:xfrm>
          <a:prstGeom prst="roundRect">
            <a:avLst>
              <a:gd fmla="val 7273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2011680" y="10058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RL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011680" y="15544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Tabular Q / DQN / Distrib. RL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3584448" y="1435608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20"/>
          <p:cNvSpPr/>
          <p:nvPr/>
        </p:nvSpPr>
        <p:spPr>
          <a:xfrm>
            <a:off x="3749040" y="960120"/>
            <a:ext cx="1554480" cy="1005840"/>
          </a:xfrm>
          <a:prstGeom prst="roundRect">
            <a:avLst>
              <a:gd fmla="val 7273" name="adj"/>
            </a:avLst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3749040" y="10058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Appraisal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749040" y="15544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4D → 6D vector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5321808" y="1435608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0"/>
          <p:cNvSpPr/>
          <p:nvPr/>
        </p:nvSpPr>
        <p:spPr>
          <a:xfrm>
            <a:off x="5486400" y="960120"/>
            <a:ext cx="1554480" cy="1005840"/>
          </a:xfrm>
          <a:prstGeom prst="roundRect">
            <a:avLst>
              <a:gd fmla="val 7273" name="adj"/>
            </a:avLst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486400" y="10058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486400" y="15544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Linear SVM / MLP Ensemble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>
            <a:off x="7059168" y="1435608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0"/>
          <p:cNvSpPr/>
          <p:nvPr/>
        </p:nvSpPr>
        <p:spPr>
          <a:xfrm>
            <a:off x="7223760" y="960120"/>
            <a:ext cx="1554480" cy="1005840"/>
          </a:xfrm>
          <a:prstGeom prst="roundRect">
            <a:avLst>
              <a:gd fmla="val 7273" name="adj"/>
            </a:avLst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223760" y="100584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Emotion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223760" y="15544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Probability over 4 or 7 emotions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7132320" y="2331720"/>
            <a:ext cx="1691640" cy="777240"/>
          </a:xfrm>
          <a:prstGeom prst="roundRect">
            <a:avLst>
              <a:gd fmla="val 9412" name="adj"/>
            </a:avLst>
          </a:prstGeom>
          <a:solidFill>
            <a:srgbClr val="880E4F"/>
          </a:solidFill>
          <a:ln cap="flat" cmpd="sng" w="12700">
            <a:solidFill>
              <a:srgbClr val="880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132320" y="235000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132320" y="2761488"/>
            <a:ext cx="169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BBD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8BBD9"/>
                </a:solidFill>
                <a:latin typeface="Calibri"/>
                <a:ea typeface="Calibri"/>
                <a:cs typeface="Calibri"/>
                <a:sym typeface="Calibri"/>
              </a:rPr>
              <a:t>Ground truth distributions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919090" y="2354643"/>
            <a:ext cx="1993500" cy="749700"/>
          </a:xfrm>
          <a:prstGeom prst="roundRect">
            <a:avLst>
              <a:gd fmla="val 9756" name="adj"/>
            </a:avLst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763965" y="2363781"/>
            <a:ext cx="1993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RMSE  ·  R²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0"/>
          <p:cNvCxnSpPr>
            <a:stCxn id="226" idx="1"/>
            <a:endCxn id="227" idx="3"/>
          </p:cNvCxnSpPr>
          <p:nvPr/>
        </p:nvCxnSpPr>
        <p:spPr>
          <a:xfrm rot="10800000">
            <a:off x="6912720" y="2729538"/>
            <a:ext cx="219600" cy="178200"/>
          </a:xfrm>
          <a:prstGeom prst="straightConnector1">
            <a:avLst/>
          </a:prstGeom>
          <a:noFill/>
          <a:ln cap="flat" cmpd="sng" w="1905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0"/>
          <p:cNvSpPr/>
          <p:nvPr/>
        </p:nvSpPr>
        <p:spPr>
          <a:xfrm>
            <a:off x="274320" y="2377440"/>
            <a:ext cx="4114800" cy="640080"/>
          </a:xfrm>
          <a:prstGeom prst="rect">
            <a:avLst/>
          </a:prstGeom>
          <a:solidFill>
            <a:srgbClr val="1565C0">
              <a:alpha val="12156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365760" y="2404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Method 1: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65760" y="26791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DQN + 6D Appraisal + MLP Ensemble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74325" y="3429015"/>
            <a:ext cx="4114800" cy="640200"/>
          </a:xfrm>
          <a:prstGeom prst="rect">
            <a:avLst/>
          </a:prstGeom>
          <a:solidFill>
            <a:srgbClr val="00838F">
              <a:alpha val="12156"/>
            </a:srgbClr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365752" y="3442722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Method 2: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11415" y="369424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Distributional RL + Calibrated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EF2F8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411480" y="42245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Both methods share: Scherer-style appraisal training data  ·  5-seed multi-run protocol  ·  RMSE &amp; R² evaluation  ·  Human participant comparison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0"/>
          <p:cNvCxnSpPr>
            <a:stCxn id="223" idx="2"/>
            <a:endCxn id="225" idx="0"/>
          </p:cNvCxnSpPr>
          <p:nvPr/>
        </p:nvCxnSpPr>
        <p:spPr>
          <a:xfrm flipH="1">
            <a:off x="7978200" y="1920240"/>
            <a:ext cx="22800" cy="429900"/>
          </a:xfrm>
          <a:prstGeom prst="straightConnector1">
            <a:avLst/>
          </a:prstGeom>
          <a:noFill/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9" name="Google Shape;239;p20" title="Gemini_Generated_Image_eh3di2eh3di2eh3d.png"/>
          <p:cNvPicPr preferRelativeResize="0"/>
          <p:nvPr/>
        </p:nvPicPr>
        <p:blipFill rotWithShape="1">
          <a:blip r:embed="rId3">
            <a:alphaModFix/>
          </a:blip>
          <a:srcRect b="2863" l="0" r="3110" t="13413"/>
          <a:stretch/>
        </p:blipFill>
        <p:spPr>
          <a:xfrm>
            <a:off x="0" y="699525"/>
            <a:ext cx="9144003" cy="428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1 — DQN + 6D Appraisal + MLP Ensemble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92608" y="822960"/>
            <a:ext cx="416052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292608" y="822960"/>
            <a:ext cx="416052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384048" y="82296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DQN Backbone + 6D Appraisal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11480" y="1316736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48640" y="13167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DQN Upgrades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11480" y="1627632"/>
            <a:ext cx="39136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Neural Q-network replaces tabular Q-table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Experience replay buffer + target network for stable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Tabular bookkeeping retained for appraisal 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11480" y="2542032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48640" y="2542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Original 4 Dimensions (kept)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11480" y="2834640"/>
            <a:ext cx="3913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Suddenness   ·   Goal Relevance   ·   Conduciveness   ·  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11480" y="3218688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48640" y="3218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+ 2 New Appraisal Dimensions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11480" y="3520440"/>
            <a:ext cx="3913632" cy="50292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502920" y="3538728"/>
            <a:ext cx="3730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Intrinsic Unpredictability  (Transition Entropy):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02920" y="3730752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H = −Σ pᵢ log pᵢ  /  log(n)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11480" y="4078224"/>
            <a:ext cx="3913632" cy="50292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502920" y="4096512"/>
            <a:ext cx="3730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Normative Significance  (TD-error z-score → [0,1]):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02920" y="4279392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z = |δ − δ̄|  /  (σ_δ + ε)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709160" y="822960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Classifier Ensemble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828032" y="1316736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4965192" y="13167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Ensemble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828032" y="1664208"/>
            <a:ext cx="822960" cy="685800"/>
          </a:xfrm>
          <a:prstGeom prst="roundRect">
            <a:avLst>
              <a:gd fmla="val 8000" name="adj"/>
            </a:avLst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828032" y="1691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(6D vec)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5669280" y="2011680"/>
            <a:ext cx="54864" cy="0"/>
          </a:xfrm>
          <a:prstGeom prst="straightConnector1">
            <a:avLst/>
          </a:prstGeom>
          <a:noFill/>
          <a:ln cap="flat" cmpd="sng" w="1905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21"/>
          <p:cNvSpPr/>
          <p:nvPr/>
        </p:nvSpPr>
        <p:spPr>
          <a:xfrm>
            <a:off x="5742432" y="1664208"/>
            <a:ext cx="822960" cy="685800"/>
          </a:xfrm>
          <a:prstGeom prst="roundRect">
            <a:avLst>
              <a:gd fmla="val 8000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5742432" y="1691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ReLU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6583680" y="2011680"/>
            <a:ext cx="54864" cy="0"/>
          </a:xfrm>
          <a:prstGeom prst="straightConnector1">
            <a:avLst/>
          </a:prstGeom>
          <a:noFill/>
          <a:ln cap="flat" cmpd="sng" w="1905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21"/>
          <p:cNvSpPr/>
          <p:nvPr/>
        </p:nvSpPr>
        <p:spPr>
          <a:xfrm>
            <a:off x="6656832" y="1664208"/>
            <a:ext cx="822960" cy="685800"/>
          </a:xfrm>
          <a:prstGeom prst="roundRect">
            <a:avLst>
              <a:gd fmla="val 8000" name="adj"/>
            </a:avLst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6656832" y="1691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>
            <a:off x="7498080" y="2011680"/>
            <a:ext cx="54864" cy="0"/>
          </a:xfrm>
          <a:prstGeom prst="straightConnector1">
            <a:avLst/>
          </a:prstGeom>
          <a:noFill/>
          <a:ln cap="flat" cmpd="sng" w="1905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21"/>
          <p:cNvSpPr/>
          <p:nvPr/>
        </p:nvSpPr>
        <p:spPr>
          <a:xfrm>
            <a:off x="7571232" y="1664208"/>
            <a:ext cx="822960" cy="685800"/>
          </a:xfrm>
          <a:prstGeom prst="roundRect">
            <a:avLst>
              <a:gd fmla="val 8000" name="adj"/>
            </a:avLst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7571232" y="1691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828032" y="2423160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× 10 independent MLPs → averaged softmax probabilities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828032" y="2816352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4965192" y="28163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Experimental Settings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828032" y="3127248"/>
            <a:ext cx="3886200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Exp1_Free + Exp2_Limit: 7-emotion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Exp3_Free + Exp3_Limit: 4-emotion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Metrics: R², RMSE, Top-1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SVM baseline retained for direct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1" title="Gemini_Generated_Image_63zs5w63zs5w63zs.png"/>
          <p:cNvPicPr preferRelativeResize="0"/>
          <p:nvPr/>
        </p:nvPicPr>
        <p:blipFill rotWithShape="1">
          <a:blip r:embed="rId3">
            <a:alphaModFix/>
          </a:blip>
          <a:srcRect b="2746" l="0" r="0" t="12508"/>
          <a:stretch/>
        </p:blipFill>
        <p:spPr>
          <a:xfrm>
            <a:off x="0" y="658375"/>
            <a:ext cx="9144003" cy="432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0" y="658368"/>
            <a:ext cx="9144000" cy="411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320040" y="0"/>
            <a:ext cx="850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1: DQN + 6D Appraisal Profiles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8046720" y="4983480"/>
            <a:ext cx="914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75" y="699475"/>
            <a:ext cx="8394327" cy="42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Method 1: DQN + 6D Appraisal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00" y="822950"/>
            <a:ext cx="5684523" cy="386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1923" y="775716"/>
            <a:ext cx="2989677" cy="2389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1925" y="3049667"/>
            <a:ext cx="2989674" cy="1758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2 — Distributional RL + Calibrated SVM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292608" y="822960"/>
            <a:ext cx="416052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292608" y="822960"/>
            <a:ext cx="4160520" cy="384048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384048" y="82296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Distributional RL Backbone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411480" y="1298448"/>
            <a:ext cx="3913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Replaces scalar Q(s,a) with a full return distribution Z(s,a) using N = 64 quantiles.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411480" y="1783080"/>
            <a:ext cx="3913632" cy="877824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502920" y="1819656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Target Return Distribution: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502920" y="2075688"/>
            <a:ext cx="3730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br>
              <a:rPr i="1" lang="en" sz="1100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Z_target = r + γ · Z(s′, a*)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11480" y="2752344"/>
            <a:ext cx="3913632" cy="877824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502920" y="2788920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Quantile Huber Loss (κ = 1.0):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02920" y="3044952"/>
            <a:ext cx="3730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L = (1/N²) ΣᵢΣⱼ ρ_τᵢ^κ (zⱼ_tgt − zᵢ_pred)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411480" y="3721608"/>
            <a:ext cx="3913632" cy="877824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57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502920" y="3758184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F1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7F17"/>
                </a:solidFill>
                <a:latin typeface="Calibri"/>
                <a:ea typeface="Calibri"/>
                <a:cs typeface="Calibri"/>
                <a:sym typeface="Calibri"/>
              </a:rPr>
              <a:t>Baseline Q-Update (reference):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02920" y="4014216"/>
            <a:ext cx="3730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Q(s,a) ← Q(s,a) + α[r + γ max Q(s′,a′) − Q(s,a)]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4709160" y="822960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SVM Calibration +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4828032" y="1316736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4965192" y="13167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C Tuned to Human Precision Behaviour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4828032" y="1664208"/>
            <a:ext cx="3886200" cy="621792"/>
          </a:xfrm>
          <a:prstGeom prst="rect">
            <a:avLst/>
          </a:prstGeom>
          <a:solidFill>
            <a:srgbClr val="1565C0">
              <a:alpha val="12156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4919472" y="170078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Free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4919472" y="19568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 = 0.0032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828032" y="2414016"/>
            <a:ext cx="3886200" cy="621792"/>
          </a:xfrm>
          <a:prstGeom prst="rect">
            <a:avLst/>
          </a:prstGeom>
          <a:solidFill>
            <a:srgbClr val="00838F">
              <a:alpha val="12156"/>
            </a:srgbClr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4919472" y="24505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Limit / Forced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4919472" y="270662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 = 0.014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4828032" y="3246120"/>
            <a:ext cx="64008" cy="2743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4965192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Multi-Seed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828032" y="3566160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Seeds: {42, 123, 999, 2024, 7}  — 5 independent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7 emotion scenarios per seed (Boredom, Fear, Happiness, Joy, Pride, Sadness, Shame)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Per-seed results aggregated → mean ± variance reported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24"/>
          <p:cNvPicPr preferRelativeResize="0"/>
          <p:nvPr/>
        </p:nvPicPr>
        <p:blipFill rotWithShape="1">
          <a:blip r:embed="rId3">
            <a:alphaModFix/>
          </a:blip>
          <a:srcRect b="4489" l="1836" r="0" t="0"/>
          <a:stretch/>
        </p:blipFill>
        <p:spPr>
          <a:xfrm>
            <a:off x="0" y="0"/>
            <a:ext cx="9345701" cy="49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0" y="658368"/>
            <a:ext cx="9144000" cy="411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320040" y="0"/>
            <a:ext cx="8503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2 — Distributional RL + Calibrated SVM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8046720" y="4983480"/>
            <a:ext cx="914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292608" y="822960"/>
            <a:ext cx="41604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292608" y="822960"/>
            <a:ext cx="4160400" cy="3840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384048" y="82296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Distributional RL Backbone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411480" y="1298448"/>
            <a:ext cx="391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Replaces scalar Q(s,a) with a full return distribution Z(s,a) using N = 64 quantiles.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411480" y="1783080"/>
            <a:ext cx="3913500" cy="8778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502920" y="1819656"/>
            <a:ext cx="373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Target Return Distribution: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502920" y="2075688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br>
              <a:rPr i="1" lang="en" sz="1100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Z_target = r + γ · Z(s′, a*)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411480" y="2752344"/>
            <a:ext cx="3913500" cy="87780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502920" y="2788920"/>
            <a:ext cx="373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Quantile Huber Loss (κ = 1.0):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02920" y="3044952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L = (1/N²) ΣᵢΣⱼ ρ_τᵢ^κ (zⱼ_tgt − zᵢ_pred)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411480" y="3721608"/>
            <a:ext cx="3913500" cy="877800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57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502920" y="3758184"/>
            <a:ext cx="373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F1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7F17"/>
                </a:solidFill>
                <a:latin typeface="Calibri"/>
                <a:ea typeface="Calibri"/>
                <a:cs typeface="Calibri"/>
                <a:sym typeface="Calibri"/>
              </a:rPr>
              <a:t>Baseline Q-Update (reference):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02920" y="4014216"/>
            <a:ext cx="3730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Q(s,a) ← Q(s,a) + α[r + γ max Q(s′,a′) − Q(s,a)]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4709160" y="822960"/>
            <a:ext cx="41148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4709160" y="822960"/>
            <a:ext cx="4114800" cy="3840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4800600" y="822960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SVM Calibration + Protocol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4828032" y="1316736"/>
            <a:ext cx="63900" cy="2742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4965192" y="131673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C Tuned to Human Precision Behaviour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4828032" y="1664208"/>
            <a:ext cx="3886200" cy="621900"/>
          </a:xfrm>
          <a:prstGeom prst="rect">
            <a:avLst/>
          </a:prstGeom>
          <a:solidFill>
            <a:srgbClr val="1565C0">
              <a:alpha val="12160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/>
          <p:nvPr/>
        </p:nvSpPr>
        <p:spPr>
          <a:xfrm>
            <a:off x="4919472" y="1700784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Free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4919472" y="1956816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 = 0.0032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4828032" y="2414016"/>
            <a:ext cx="3886200" cy="621900"/>
          </a:xfrm>
          <a:prstGeom prst="rect">
            <a:avLst/>
          </a:prstGeom>
          <a:solidFill>
            <a:srgbClr val="00838F">
              <a:alpha val="12160"/>
            </a:srgbClr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"/>
          <p:cNvSpPr/>
          <p:nvPr/>
        </p:nvSpPr>
        <p:spPr>
          <a:xfrm>
            <a:off x="4919472" y="245059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Limit / Forced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4919472" y="270662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C = 0.014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4828032" y="3246120"/>
            <a:ext cx="63900" cy="2742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4965192" y="32461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Multi-Seed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4828032" y="3566160"/>
            <a:ext cx="3886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Seeds: {42, 123, 999, 2024, 7}  — 5 independent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7 emotion scenarios per seed (Boredom, Fear, Happiness, Joy, Pride, Sadness, Shame)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Per-seed results aggregated → mean ± variance reported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25"/>
          <p:cNvPicPr preferRelativeResize="0"/>
          <p:nvPr/>
        </p:nvPicPr>
        <p:blipFill rotWithShape="1">
          <a:blip r:embed="rId3">
            <a:alphaModFix/>
          </a:blip>
          <a:srcRect b="4489" l="1836" r="0" t="0"/>
          <a:stretch/>
        </p:blipFill>
        <p:spPr>
          <a:xfrm>
            <a:off x="0" y="0"/>
            <a:ext cx="9345701" cy="49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5"/>
          <p:cNvPicPr preferRelativeResize="0"/>
          <p:nvPr/>
        </p:nvPicPr>
        <p:blipFill rotWithShape="1">
          <a:blip r:embed="rId4">
            <a:alphaModFix/>
          </a:blip>
          <a:srcRect b="0" l="0" r="0" t="12801"/>
          <a:stretch/>
        </p:blipFill>
        <p:spPr>
          <a:xfrm>
            <a:off x="0" y="822950"/>
            <a:ext cx="9043150" cy="416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Method 2: Distributional RL vs Baseline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303520" cy="393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822960"/>
            <a:ext cx="31089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6"/>
          <p:cNvSpPr/>
          <p:nvPr/>
        </p:nvSpPr>
        <p:spPr>
          <a:xfrm>
            <a:off x="5760720" y="3273552"/>
            <a:ext cx="960120" cy="1353312"/>
          </a:xfrm>
          <a:prstGeom prst="rect">
            <a:avLst/>
          </a:prstGeom>
          <a:solidFill>
            <a:srgbClr val="1565C0">
              <a:alpha val="12156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5760720" y="3364992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0.501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5760720" y="385876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Baseline Agg. R²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6812280" y="3273552"/>
            <a:ext cx="960120" cy="1353312"/>
          </a:xfrm>
          <a:prstGeom prst="rect">
            <a:avLst/>
          </a:prstGeom>
          <a:solidFill>
            <a:srgbClr val="B71C1C">
              <a:alpha val="12156"/>
            </a:srgbClr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6812280" y="3364992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−0.326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6812280" y="385876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M2 Agg. R²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7863840" y="3273552"/>
            <a:ext cx="960120" cy="1353312"/>
          </a:xfrm>
          <a:prstGeom prst="rect">
            <a:avLst/>
          </a:prstGeom>
          <a:solidFill>
            <a:srgbClr val="E65100">
              <a:alpha val="12156"/>
            </a:srgbClr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7863840" y="3364992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40.7%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863840" y="385876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RMSE worse (M2)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Insights &amp; Interpretation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Cognitive-Affective RL  |  [Your Name]  |  [Your University]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292608" y="822960"/>
            <a:ext cx="4114800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292608" y="822960"/>
            <a:ext cx="566928" cy="1755648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292608" y="1481328"/>
            <a:ext cx="566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950976" y="896112"/>
            <a:ext cx="3364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Distributional RL ≠ Better Appraisals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950976" y="1408176"/>
            <a:ext cx="336499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Quantile return distribution is collapsed to scalar features → critical information loss → negative R² in 3 of 4 conditions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4727448" y="822960"/>
            <a:ext cx="4114800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4727448" y="822960"/>
            <a:ext cx="566928" cy="17556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4727448" y="1481328"/>
            <a:ext cx="566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5385816" y="896112"/>
            <a:ext cx="3364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6D Appraisal Helps — But Only in Constrained Settings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5385816" y="1408176"/>
            <a:ext cx="336499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Entropy and TD-error dimensions add signal when human labels are constrained. Free-condition variance overwhelms the new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292608" y="2761488"/>
            <a:ext cx="4114800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292608" y="2761488"/>
            <a:ext cx="566928" cy="1755648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292608" y="3419856"/>
            <a:ext cx="566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950976" y="2834640"/>
            <a:ext cx="3364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Constrained &gt; Free Condition Across All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950976" y="3346704"/>
            <a:ext cx="336499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Limit/forced condition consistently produces higher R² — lower human variance makes model fitting tractable.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4727448" y="2761488"/>
            <a:ext cx="4114800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4727448" y="2761488"/>
            <a:ext cx="566928" cy="1755648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4727448" y="3419856"/>
            <a:ext cx="566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385816" y="2834640"/>
            <a:ext cx="3364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Exp3 (4-Emotion) Remains the Hardest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5385816" y="3346704"/>
            <a:ext cx="336499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Sparse reward in 4-emotion MDP yields low-entropy transitions that mis-represent appraisal. MDP redesign is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292608" y="4700016"/>
            <a:ext cx="8577072" cy="256032"/>
          </a:xfrm>
          <a:prstGeom prst="rect">
            <a:avLst/>
          </a:prstGeom>
          <a:solidFill>
            <a:srgbClr val="F9A825">
              <a:alpha val="20000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411480" y="470916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Best configuration: Exp1_2 Baseline (Tabular Q)  →  R² = 0.741  ·  RMSE = 0.123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8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8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Limitations, Future Work &amp; 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292608" y="822960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292608" y="822960"/>
            <a:ext cx="2743200" cy="36576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"/>
          <p:cNvSpPr/>
          <p:nvPr/>
        </p:nvSpPr>
        <p:spPr>
          <a:xfrm>
            <a:off x="384048" y="822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384048" y="1261872"/>
            <a:ext cx="256032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Small human participant pool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MDP scenarios hand-crafted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Scherer table = fixed ground truth (cultural variation ignored)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SVM C-tuning manual, not jointly optimised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M2 scalar projection loses quantile information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246120" y="822960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3246120" y="822960"/>
            <a:ext cx="2743200" cy="36576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8"/>
          <p:cNvSpPr/>
          <p:nvPr/>
        </p:nvSpPr>
        <p:spPr>
          <a:xfrm>
            <a:off x="3337623" y="78188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3367225" y="1229925"/>
            <a:ext cx="24690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Map quantile distribution → appraisal via learned projection (fix M2)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Learn MDP parameters from human behavioural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Cross-cultural validation on multilingual emotion datasets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55A64"/>
              </a:buClr>
              <a:buSzPts val="1050"/>
              <a:buFont typeface="Calibri"/>
              <a:buChar char="•"/>
            </a:pPr>
            <a:r>
              <a:rPr b="0" i="0" lang="en" sz="10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End-to-end joint training: RL + appraisal extractor + classifier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6199632" y="822960"/>
            <a:ext cx="265176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"/>
          <p:cNvSpPr/>
          <p:nvPr/>
        </p:nvSpPr>
        <p:spPr>
          <a:xfrm>
            <a:off x="6199632" y="822960"/>
            <a:ext cx="2651760" cy="3657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6291072" y="822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Key 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6236208" y="1298448"/>
            <a:ext cx="219456" cy="21945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6236208" y="129844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6492240" y="1298448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Tabular Q &gt; Distrib. RL  (ΔR² = 0.827)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6236208" y="1645920"/>
            <a:ext cx="219456" cy="21945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6236208" y="16459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6492240" y="164592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6D appraisal helps in constrained conditions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6236208" y="1993392"/>
            <a:ext cx="219456" cy="21945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6236208" y="19933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6492240" y="1993392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MLP ensemble ≈ SVM; neither dominates 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6236208" y="2340864"/>
            <a:ext cx="219456" cy="21945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"/>
          <p:cNvSpPr/>
          <p:nvPr/>
        </p:nvSpPr>
        <p:spPr>
          <a:xfrm>
            <a:off x="6236208" y="234086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6492240" y="2340864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Exp3 free condition needs new MDP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6236208" y="2688336"/>
            <a:ext cx="219456" cy="21945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6236208" y="26883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6492240" y="2688336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SVM C calibration is condition-critical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292608" y="3337560"/>
            <a:ext cx="8577072" cy="1051560"/>
          </a:xfrm>
          <a:prstGeom prst="rect">
            <a:avLst/>
          </a:prstGeom>
          <a:solidFill>
            <a:srgbClr val="0D2B55"/>
          </a:solidFill>
          <a:ln cap="flat" cmpd="sng" w="12700">
            <a:solidFill>
              <a:srgbClr val="0D2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292608" y="3337560"/>
            <a:ext cx="50292" cy="105156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457200" y="336499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457200" y="3675888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Appraisal-grounded RL can approximate human emotion distributions, but richer RL objectives require richer appraisal bridges — not scalar projections. The tabular baseline remains the strongest model. Future work should close the loop end-to-end, learn MDPs from human data, and validate cross-culturally.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292608" y="4526280"/>
            <a:ext cx="8577072" cy="347472"/>
          </a:xfrm>
          <a:prstGeom prst="rect">
            <a:avLst/>
          </a:prstGeom>
          <a:solidFill>
            <a:srgbClr val="F9A825">
              <a:alpha val="14901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384048" y="4544568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B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2B55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  ·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