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An Appraisal-Augmented Dueling Double DQN with a Bootstrap Ensemble for Cognitively Grounded Affective Modelling in Reinforcement Learning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02020"/>
                </a:solidFill>
              </a:rPr>
              <a:t>Dev Shrut Jain  |  Sweta Rana  |  Krish Rathod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805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Department of Artificial Intelligence, SVNIT Surat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</a:rPr>
              <a:t>B.Tech. Project  |  Year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Why couple Scherer's CPM with reinforcement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Emotion is not a layer painted on top of cognition — it shares machinery with attention, action selection, and learning.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Scherer's Component Process Model (CPM) decomposes emotion into a hierarchy of cognitive checks. Most of those checks already read quantities an RL agent maintains: TD error, Q-spread, transition counts.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Zhang, Broekens, Jokinen (arXiv:2309.06367, 2023) operationalise four such checks — suddenness, goal relevance, conduciveness, power — on a tabular Q-learning agent.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Limitation: three of those four checks ride the same TD signal. The 4-D vector cannot, by construction, distinguish emotions that differ on something other than TD magnitude (e.g. boredom vs neutral, hope vs joy).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Our question: can the appraisal vector be enriched with channels whose informativeness is empirically verifiable, not asserted?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B.Tech. Project | SVNIT Surat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Method 1 — Dueling Double DQN with Bootstrap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The headline backbone (chosen configuration)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Dueling head: Q(s,a) = V(s) + (A(s,a) − mean_a A). Exposes V(s) and the centred advantage as named outputs.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Bootstrap ensemble: K = 3 independently-initialised value heads share a feature trunk. Cross-head dispersion σ_K(s) is a clean epistemic-uncertainty signal.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Double-DQN target removes max-operator bias from the TD error.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These three architectural pieces feed three appraisal channels directly: V → anticipation, advantage spread → power, σ_K → predictability.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Trained for 60,000 frames on a 7×7 key-and-lava grid world; the appraisal vector is a read-out, the policy is unaffected.</a:t>
            </a:r>
          </a:p>
        </p:txBody>
      </p:sp>
      <p:pic>
        <p:nvPicPr>
          <p:cNvPr id="5" name="Picture 4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297680" cy="23545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src/networks/dueling_dqn.py | src/agent.py | src/train.py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Method 2 — Quantile-Regression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A controlled comparison (Dabney et al., AAAI 2018)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Replaces the dueling V-head and the K-ensemble with a single QR-DQN head producing N = 51 quantile atoms per action.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Trained with the asymmetric quantile Huber loss (eq. 19 of the paper).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Same seed, same env, same 60k-frame budget, same eight-dim appraisal vector — only the value head and loss are swapped.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Three input substitutions: Q = mean over atoms; V(s) = max_a Q(s,a); predictability uses the within-distribution spread σ_Z of the greedy action's atoms.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</a:rPr>
              <a:t>Why we ran it: to test whether Method 1's gains are specific to its representation. Result: yes, they are. Method 2 trails Method 1 on every appraisal-derived 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src/networks/qr_dqn.py | src/agent_qrdqn.py | src/train_qrdqn.py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The 8-Dimensional Appraisal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Four CPM checks reproduced + four orthogonal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x1 suddenness — 1 − P(s' | s, a)  [transition counts]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x2 goal relevance — |TD| / running max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x3 conduciveness — tanh(TD / scale)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x4 power — centred Q-range / max|Q|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x5 predictability★ — 1 − σ_K / running max  [ensemble dispersion]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x6 anticipation★ — tanh(V(s) / scale)  [absolute value level]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x7 urgency★ — t / T_max  [within-episode time index]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x8 familiarity★ — log(N(s)+1) / log(N_max+1)  [state-visit count]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★ = newly proposed; each computed from a statistic that is algebraically disjoint from the original four.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297680" cy="37685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src/appraisal/extractor.py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Results — Master Conclusion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60,000 frames, identical seed, three configurations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  <a:gridCol w="1158240"/>
                <a:gridCol w="1158240"/>
                <a:gridCol w="115824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</a:rPr>
                        <a:t>Exp.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</a:rP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</a:rPr>
                        <a:t>Backbone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</a:rPr>
                        <a:t>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</a:rP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02020"/>
                          </a:solidFill>
                        </a:rPr>
                        <a:t>RMSE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Exp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Baseline-4D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Method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0.345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77B4"/>
                          </a:solidFill>
                        </a:rPr>
                        <a:t>Exp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77B4"/>
                          </a:solidFill>
                        </a:rPr>
                        <a:t>Extended-8D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77B4"/>
                          </a:solidFill>
                        </a:rPr>
                        <a:t>Method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77B4"/>
                          </a:solidFill>
                        </a:rPr>
                        <a:t>0.903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77B4"/>
                          </a:solidFill>
                        </a:rPr>
                        <a:t>0.757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77B4"/>
                          </a:solidFill>
                        </a:rPr>
                        <a:t>0.214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Exp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Extended-8D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Method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0.868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0.694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</a:rPr>
                        <a:t>0.239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omparis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297680" cy="2251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6949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020"/>
                </a:solidFill>
              </a:rPr>
              <a:t>• Extended-8D (Method 1) leads on every metric — the chosen configuration.</a:t>
            </a:r>
          </a:p>
          <a:p>
            <a:r>
              <a:rPr sz="1300">
                <a:solidFill>
                  <a:srgbClr val="202020"/>
                </a:solidFill>
              </a:rPr>
              <a:t>• Method 2 (QR-DQN) is competitive but trails by 3.5 pp accuracy, 0.063 R², 0.025 RMSE.</a:t>
            </a:r>
          </a:p>
          <a:p>
            <a:r>
              <a:rPr sz="1300">
                <a:solidFill>
                  <a:srgbClr val="202020"/>
                </a:solidFill>
              </a:rPr>
              <a:t>• Effective rank of the appraisal covariance roughly doubles from 1.58/4 to 3.18/8.</a:t>
            </a:r>
          </a:p>
          <a:p>
            <a:r>
              <a:rPr sz="1300">
                <a:solidFill>
                  <a:srgbClr val="202020"/>
                </a:solidFill>
              </a:rPr>
              <a:t>• Greedy task return identical between Baseline-4D and Method 1 (seed=0); appraisal layer is a read-out, not a policy modifier.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runs/rmse_r2_summary.json | analysis/rmse_r2.py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Decorrelation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The new dimensions carry genuinely independent information</a:t>
            </a:r>
          </a:p>
        </p:txBody>
      </p:sp>
      <p:pic>
        <p:nvPicPr>
          <p:cNvPr id="4" name="Picture 3" descr="eigenvalue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760720" cy="3241714"/>
          </a:xfrm>
          <a:prstGeom prst="rect">
            <a:avLst/>
          </a:prstGeom>
        </p:spPr>
      </p:pic>
      <p:pic>
        <p:nvPicPr>
          <p:cNvPr id="5" name="Picture 4" descr="perm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3078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9377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020"/>
                </a:solidFill>
              </a:rPr>
              <a:t>• Eigenvalue spectrum (left): Baseline-4D collapses onto its first eigenvector (erank = 1.58/4); Extended-8D spreads mass over a longer tail (erank = 3.18/8).</a:t>
            </a:r>
          </a:p>
          <a:p>
            <a:r>
              <a:rPr sz="1300">
                <a:solidFill>
                  <a:srgbClr val="202020"/>
                </a:solidFill>
              </a:rPr>
              <a:t>• Permutation importance (right): four of the five most discriminative dimensions in Extended-8D are the newly-introduced ones (familiarity, power, anticipation, predictability).</a:t>
            </a:r>
          </a:p>
          <a:p>
            <a:r>
              <a:rPr sz="1300">
                <a:solidFill>
                  <a:srgbClr val="202020"/>
                </a:solidFill>
              </a:rPr>
              <a:t>• Per-dimension VIF: every channel except anticipation sits below 5; anticipation reaches 7.4 — reported transparently as a world-driven coupling, not a modelling oversight.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analysis/correlation_analysis.py | analysis/explainability.py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77B4"/>
                </a:solidFill>
              </a:rPr>
              <a:t>Conclusion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What we showed, what we did not,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Replacing the tabular Q-learning backbone with a Dueling Double DQN + bootstrap ensemble lets us define four new appraisal channels, each from a statistic algebraically disjoint from the original four.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Extended-8D (Method 1): accuracy 64.8% → 90.3%, R² 0.366 → 0.757, RMSE 0.345 → 0.214. Effective rank doubles. Greedy task return unchanged.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QR-DQN (Method 2) is competitive but underperforms — this confirms the dueling V-head and the ensemble are doing real work rather than being incidental.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Limitations: emotion labels are task-event proxies, not human vignette ratings; predictability is uninformative very early in training; tested on one grid world only.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Future work: port to the vignette protocol of [Zhang et al. 2023]; joint train classifier and value network; close the loop by feeding appraisal back as intrinsic reward; replace count tables with hash-based pseudo-counts for high-dim envs.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Code &amp; paper: github.com/jaindevshrut/RL-Research-Project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